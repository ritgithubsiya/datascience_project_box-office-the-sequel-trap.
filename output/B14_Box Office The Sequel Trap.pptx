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317" r:id="rId5"/>
    <p:sldId id="307" r:id="rId6"/>
    <p:sldId id="308" r:id="rId7"/>
    <p:sldId id="278" r:id="rId8"/>
    <p:sldId id="309" r:id="rId9"/>
    <p:sldId id="263" r:id="rId10"/>
    <p:sldId id="310" r:id="rId11"/>
    <p:sldId id="311" r:id="rId12"/>
    <p:sldId id="312" r:id="rId13"/>
    <p:sldId id="316" r:id="rId14"/>
    <p:sldId id="314" r:id="rId15"/>
    <p:sldId id="315" r:id="rId16"/>
    <p:sldId id="3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78" d="100"/>
          <a:sy n="78" d="100"/>
        </p:scale>
        <p:origin x="878" y="7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12/30/2025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12/30/2025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2332748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presentation title</a:t>
            </a:r>
          </a:p>
        </p:txBody>
      </p:sp>
      <p:pic>
        <p:nvPicPr>
          <p:cNvPr id="5" name="Picture 4">
            <a:extLst>
              <a:ext uri="{FF2B5EF4-FFF2-40B4-BE49-F238E27FC236}">
                <a16:creationId xmlns:a16="http://schemas.microsoft.com/office/drawing/2014/main" id="{904EFA2A-AF8C-C9AC-008F-C25F2F28178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82761" y="70025"/>
            <a:ext cx="10009239" cy="65213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Rectangle: Diagonal Corners Rounded 1">
            <a:extLst>
              <a:ext uri="{FF2B5EF4-FFF2-40B4-BE49-F238E27FC236}">
                <a16:creationId xmlns:a16="http://schemas.microsoft.com/office/drawing/2014/main" id="{04FA5725-24CD-35BD-1E30-187A5B44D30B}"/>
              </a:ext>
            </a:extLst>
          </p:cNvPr>
          <p:cNvSpPr/>
          <p:nvPr/>
        </p:nvSpPr>
        <p:spPr>
          <a:xfrm>
            <a:off x="208002" y="4178707"/>
            <a:ext cx="4737624" cy="2507227"/>
          </a:xfrm>
          <a:prstGeom prst="round2DiagRect">
            <a:avLst/>
          </a:prstGeom>
        </p:spPr>
        <p:style>
          <a:lnRef idx="1">
            <a:schemeClr val="accent3"/>
          </a:lnRef>
          <a:fillRef idx="3">
            <a:schemeClr val="accent3"/>
          </a:fillRef>
          <a:effectRef idx="2">
            <a:schemeClr val="accent3"/>
          </a:effectRef>
          <a:fontRef idx="minor">
            <a:schemeClr val="lt1"/>
          </a:fontRef>
        </p:style>
        <p:txBody>
          <a:bodyPr rtlCol="0" anchor="ctr"/>
          <a:lstStyle/>
          <a:p>
            <a:r>
              <a:rPr lang="en-IN" b="1" dirty="0">
                <a:solidFill>
                  <a:srgbClr val="000000"/>
                </a:solidFill>
                <a:latin typeface="Calibri" panose="020F0502020204030204" pitchFamily="34" charset="0"/>
                <a:ea typeface="Calibri" panose="020F0502020204030204" pitchFamily="34" charset="0"/>
                <a:cs typeface="Calibri" panose="020F0502020204030204" pitchFamily="34" charset="0"/>
              </a:rPr>
              <a:t>916 YADAV PRAGATI GOPAL</a:t>
            </a:r>
            <a:r>
              <a:rPr lang="en-IN" b="1" dirty="0">
                <a:solidFill>
                  <a:srgbClr val="FF0000"/>
                </a:solidFill>
                <a:latin typeface="Calibri" panose="020F0502020204030204" pitchFamily="34" charset="0"/>
                <a:ea typeface="Calibri" panose="020F0502020204030204" pitchFamily="34" charset="0"/>
                <a:cs typeface="Calibri" panose="020F0502020204030204" pitchFamily="34" charset="0"/>
              </a:rPr>
              <a:t>(Modeler/Predictor)</a:t>
            </a:r>
          </a:p>
          <a:p>
            <a:r>
              <a:rPr lang="en-IN" b="1" dirty="0">
                <a:solidFill>
                  <a:srgbClr val="000000"/>
                </a:solidFill>
                <a:latin typeface="Calibri" panose="020F0502020204030204" pitchFamily="34" charset="0"/>
                <a:ea typeface="Calibri" panose="020F0502020204030204" pitchFamily="34" charset="0"/>
                <a:cs typeface="Calibri" panose="020F0502020204030204" pitchFamily="34" charset="0"/>
              </a:rPr>
              <a:t>917 YADAV ANJALI PRAMOD</a:t>
            </a:r>
            <a:r>
              <a:rPr lang="en-IN" b="1" dirty="0">
                <a:solidFill>
                  <a:srgbClr val="FF0000"/>
                </a:solidFill>
                <a:latin typeface="Calibri" panose="020F0502020204030204" pitchFamily="34" charset="0"/>
                <a:ea typeface="Calibri" panose="020F0502020204030204" pitchFamily="34" charset="0"/>
                <a:cs typeface="Calibri" panose="020F0502020204030204" pitchFamily="34" charset="0"/>
              </a:rPr>
              <a:t>(EDA Analyst)</a:t>
            </a:r>
          </a:p>
          <a:p>
            <a:r>
              <a:rPr lang="en-IN" b="1" dirty="0">
                <a:solidFill>
                  <a:srgbClr val="000000"/>
                </a:solidFill>
                <a:latin typeface="Calibri" panose="020F0502020204030204" pitchFamily="34" charset="0"/>
                <a:ea typeface="Calibri" panose="020F0502020204030204" pitchFamily="34" charset="0"/>
                <a:cs typeface="Calibri" panose="020F0502020204030204" pitchFamily="34" charset="0"/>
              </a:rPr>
              <a:t>918 RAUT YASH SURESH</a:t>
            </a:r>
            <a:r>
              <a:rPr lang="en-IN" b="1" dirty="0">
                <a:solidFill>
                  <a:srgbClr val="FF0000"/>
                </a:solidFill>
                <a:latin typeface="Calibri" panose="020F0502020204030204" pitchFamily="34" charset="0"/>
                <a:ea typeface="Calibri" panose="020F0502020204030204" pitchFamily="34" charset="0"/>
                <a:cs typeface="Calibri" panose="020F0502020204030204" pitchFamily="34" charset="0"/>
              </a:rPr>
              <a:t>(Data Architect)</a:t>
            </a:r>
          </a:p>
          <a:p>
            <a:r>
              <a:rPr lang="en-IN" b="1" dirty="0">
                <a:solidFill>
                  <a:srgbClr val="000000"/>
                </a:solidFill>
                <a:latin typeface="Calibri" panose="020F0502020204030204" pitchFamily="34" charset="0"/>
                <a:ea typeface="Calibri" panose="020F0502020204030204" pitchFamily="34" charset="0"/>
                <a:cs typeface="Calibri" panose="020F0502020204030204" pitchFamily="34" charset="0"/>
              </a:rPr>
              <a:t>919 TELGE YASH UDAY</a:t>
            </a:r>
            <a:r>
              <a:rPr lang="en-IN" b="1" dirty="0">
                <a:solidFill>
                  <a:srgbClr val="FF0000"/>
                </a:solidFill>
                <a:latin typeface="Calibri" panose="020F0502020204030204" pitchFamily="34" charset="0"/>
                <a:ea typeface="Calibri" panose="020F0502020204030204" pitchFamily="34" charset="0"/>
                <a:cs typeface="Calibri" panose="020F0502020204030204" pitchFamily="34" charset="0"/>
              </a:rPr>
              <a:t>(Insights Lead)</a:t>
            </a:r>
          </a:p>
          <a:p>
            <a:r>
              <a:rPr lang="en-IN" b="1" dirty="0">
                <a:solidFill>
                  <a:srgbClr val="000000"/>
                </a:solidFill>
                <a:latin typeface="Calibri" panose="020F0502020204030204" pitchFamily="34" charset="0"/>
                <a:ea typeface="Calibri" panose="020F0502020204030204" pitchFamily="34" charset="0"/>
                <a:cs typeface="Calibri" panose="020F0502020204030204" pitchFamily="34" charset="0"/>
              </a:rPr>
              <a:t>920 YADAV RAJNISH SHIVSHANKAR</a:t>
            </a:r>
            <a:r>
              <a:rPr lang="en-IN" b="1" dirty="0">
                <a:solidFill>
                  <a:srgbClr val="FF0000"/>
                </a:solidFill>
                <a:latin typeface="Calibri" panose="020F0502020204030204" pitchFamily="34" charset="0"/>
                <a:ea typeface="Calibri" panose="020F0502020204030204" pitchFamily="34" charset="0"/>
                <a:cs typeface="Calibri" panose="020F0502020204030204" pitchFamily="34" charset="0"/>
              </a:rPr>
              <a:t>(Data Architect)</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FCA12-8D42-8FD2-8549-0CB8EEAA333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654" y="-1"/>
            <a:ext cx="10576114" cy="674487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27D5A9A-F4B8-B532-D76F-4D1A7C489D5A}"/>
              </a:ext>
            </a:extLst>
          </p:cNvPr>
          <p:cNvSpPr/>
          <p:nvPr/>
        </p:nvSpPr>
        <p:spPr>
          <a:xfrm>
            <a:off x="324465" y="206478"/>
            <a:ext cx="2408904" cy="87507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b="1" dirty="0">
                <a:solidFill>
                  <a:srgbClr val="000000"/>
                </a:solidFill>
              </a:rPr>
              <a:t>Data Architecture</a:t>
            </a:r>
          </a:p>
        </p:txBody>
      </p:sp>
      <p:pic>
        <p:nvPicPr>
          <p:cNvPr id="3" name="Picture 2">
            <a:extLst>
              <a:ext uri="{FF2B5EF4-FFF2-40B4-BE49-F238E27FC236}">
                <a16:creationId xmlns:a16="http://schemas.microsoft.com/office/drawing/2014/main" id="{F5D90070-A4E6-806F-A803-D350424C2456}"/>
              </a:ext>
            </a:extLst>
          </p:cNvPr>
          <p:cNvPicPr>
            <a:picLocks noChangeAspect="1"/>
          </p:cNvPicPr>
          <p:nvPr/>
        </p:nvPicPr>
        <p:blipFill>
          <a:blip r:embed="rId3"/>
          <a:stretch>
            <a:fillRect/>
          </a:stretch>
        </p:blipFill>
        <p:spPr>
          <a:xfrm>
            <a:off x="324465" y="1568924"/>
            <a:ext cx="4507015" cy="9113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910586E8-C57A-61FC-C0F6-B88722D96D09}"/>
              </a:ext>
            </a:extLst>
          </p:cNvPr>
          <p:cNvPicPr>
            <a:picLocks noChangeAspect="1"/>
          </p:cNvPicPr>
          <p:nvPr/>
        </p:nvPicPr>
        <p:blipFill>
          <a:blip r:embed="rId4"/>
          <a:stretch>
            <a:fillRect/>
          </a:stretch>
        </p:blipFill>
        <p:spPr>
          <a:xfrm>
            <a:off x="324465" y="2967609"/>
            <a:ext cx="5399181" cy="34509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2D24B111-C162-CF4B-2C55-B0F8EB0D2EF8}"/>
              </a:ext>
            </a:extLst>
          </p:cNvPr>
          <p:cNvPicPr>
            <a:picLocks noChangeAspect="1"/>
          </p:cNvPicPr>
          <p:nvPr/>
        </p:nvPicPr>
        <p:blipFill>
          <a:blip r:embed="rId5"/>
          <a:stretch>
            <a:fillRect/>
          </a:stretch>
        </p:blipFill>
        <p:spPr>
          <a:xfrm>
            <a:off x="6136025" y="4274109"/>
            <a:ext cx="5731510" cy="13538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a:extLst>
              <a:ext uri="{FF2B5EF4-FFF2-40B4-BE49-F238E27FC236}">
                <a16:creationId xmlns:a16="http://schemas.microsoft.com/office/drawing/2014/main" id="{496B9198-A675-D8C8-D1D8-386468475345}"/>
              </a:ext>
            </a:extLst>
          </p:cNvPr>
          <p:cNvSpPr/>
          <p:nvPr/>
        </p:nvSpPr>
        <p:spPr>
          <a:xfrm>
            <a:off x="5753143" y="275821"/>
            <a:ext cx="5476568" cy="219172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a:solidFill>
                  <a:srgbClr val="000000"/>
                </a:solidFill>
              </a:rPr>
              <a:t>The dataset was mostly complete, with missing values only in budget and box office columns. Since these fields are important for performance analysis, missing values were handled carefully to avoid incorrect results.</a:t>
            </a:r>
            <a:endParaRPr lang="en-IN" sz="2400" b="1" dirty="0">
              <a:solidFill>
                <a:srgbClr val="000000"/>
              </a:solidFill>
            </a:endParaRPr>
          </a:p>
        </p:txBody>
      </p:sp>
      <p:sp>
        <p:nvSpPr>
          <p:cNvPr id="8" name="Arrow: Right 7">
            <a:extLst>
              <a:ext uri="{FF2B5EF4-FFF2-40B4-BE49-F238E27FC236}">
                <a16:creationId xmlns:a16="http://schemas.microsoft.com/office/drawing/2014/main" id="{32D73E77-C80D-194D-90F1-9A0790ECB669}"/>
              </a:ext>
            </a:extLst>
          </p:cNvPr>
          <p:cNvSpPr/>
          <p:nvPr/>
        </p:nvSpPr>
        <p:spPr>
          <a:xfrm flipH="1">
            <a:off x="3024055" y="449317"/>
            <a:ext cx="253117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D2EA1B3-F04D-3F53-B8EF-CA0CA12327B8}"/>
              </a:ext>
            </a:extLst>
          </p:cNvPr>
          <p:cNvSpPr/>
          <p:nvPr/>
        </p:nvSpPr>
        <p:spPr>
          <a:xfrm>
            <a:off x="2861186" y="210969"/>
            <a:ext cx="7108724" cy="2533379"/>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sz="2000" b="1" dirty="0">
                <a:solidFill>
                  <a:srgbClr val="000000"/>
                </a:solidFill>
              </a:rPr>
              <a:t>Since the dataset is small and financial columns are important for performance analysis, rows with missing budget or box office values were removed to avoid incorrect assumptions.</a:t>
            </a:r>
            <a:endParaRPr lang="en-IN" sz="2000" b="1" dirty="0">
              <a:solidFill>
                <a:srgbClr val="000000"/>
              </a:solidFill>
            </a:endParaRPr>
          </a:p>
          <a:p>
            <a:r>
              <a:rPr lang="en-US" sz="2000" b="1" dirty="0">
                <a:solidFill>
                  <a:srgbClr val="000000"/>
                </a:solidFill>
              </a:rPr>
              <a:t>Only budget and box office had missing data</a:t>
            </a:r>
            <a:endParaRPr lang="en-IN" sz="2000" b="1" dirty="0">
              <a:solidFill>
                <a:srgbClr val="000000"/>
              </a:solidFill>
            </a:endParaRPr>
          </a:p>
          <a:p>
            <a:r>
              <a:rPr lang="en-US" sz="2000" b="1" dirty="0">
                <a:solidFill>
                  <a:srgbClr val="000000"/>
                </a:solidFill>
              </a:rPr>
              <a:t>Filling values would reduce accuracy</a:t>
            </a:r>
            <a:endParaRPr lang="en-IN" sz="2000" b="1" dirty="0">
              <a:solidFill>
                <a:srgbClr val="000000"/>
              </a:solidFill>
            </a:endParaRPr>
          </a:p>
          <a:p>
            <a:r>
              <a:rPr lang="en-US" sz="2000" b="1" dirty="0">
                <a:solidFill>
                  <a:srgbClr val="000000"/>
                </a:solidFill>
              </a:rPr>
              <a:t> </a:t>
            </a:r>
            <a:endParaRPr lang="en-IN" sz="2000" b="1" dirty="0">
              <a:solidFill>
                <a:srgbClr val="000000"/>
              </a:solidFill>
            </a:endParaRPr>
          </a:p>
          <a:p>
            <a:r>
              <a:rPr lang="en-US" sz="2000" b="1" dirty="0">
                <a:solidFill>
                  <a:srgbClr val="000000"/>
                </a:solidFill>
              </a:rPr>
              <a:t>Rows with missing financial data removed</a:t>
            </a:r>
            <a:endParaRPr lang="en-IN" sz="2000" b="1" dirty="0">
              <a:solidFill>
                <a:srgbClr val="000000"/>
              </a:solidFill>
            </a:endParaRPr>
          </a:p>
          <a:p>
            <a:pPr algn="ctr"/>
            <a:endParaRPr lang="en-IN" sz="2000" b="1" dirty="0">
              <a:solidFill>
                <a:srgbClr val="000000"/>
              </a:solidFill>
            </a:endParaRPr>
          </a:p>
        </p:txBody>
      </p:sp>
      <p:pic>
        <p:nvPicPr>
          <p:cNvPr id="4" name="Picture 3">
            <a:extLst>
              <a:ext uri="{FF2B5EF4-FFF2-40B4-BE49-F238E27FC236}">
                <a16:creationId xmlns:a16="http://schemas.microsoft.com/office/drawing/2014/main" id="{A3AA178D-88AF-6D6E-F04D-23206ECB4856}"/>
              </a:ext>
            </a:extLst>
          </p:cNvPr>
          <p:cNvPicPr>
            <a:picLocks noChangeAspect="1"/>
          </p:cNvPicPr>
          <p:nvPr/>
        </p:nvPicPr>
        <p:blipFill>
          <a:blip r:embed="rId3"/>
          <a:stretch>
            <a:fillRect/>
          </a:stretch>
        </p:blipFill>
        <p:spPr>
          <a:xfrm>
            <a:off x="836090" y="3177316"/>
            <a:ext cx="5731510" cy="8489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246A8713-99C6-73CA-7B2D-6B1DCB31C306}"/>
              </a:ext>
            </a:extLst>
          </p:cNvPr>
          <p:cNvPicPr>
            <a:picLocks noChangeAspect="1"/>
          </p:cNvPicPr>
          <p:nvPr/>
        </p:nvPicPr>
        <p:blipFill>
          <a:blip r:embed="rId4"/>
          <a:stretch>
            <a:fillRect/>
          </a:stretch>
        </p:blipFill>
        <p:spPr>
          <a:xfrm>
            <a:off x="836090" y="4459279"/>
            <a:ext cx="5731510" cy="11918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56EB7B89-DA30-F7FC-A68D-D3E2ACEC6ECC}"/>
              </a:ext>
            </a:extLst>
          </p:cNvPr>
          <p:cNvPicPr>
            <a:picLocks noChangeAspect="1"/>
          </p:cNvPicPr>
          <p:nvPr/>
        </p:nvPicPr>
        <p:blipFill>
          <a:blip r:embed="rId5"/>
          <a:stretch>
            <a:fillRect/>
          </a:stretch>
        </p:blipFill>
        <p:spPr>
          <a:xfrm>
            <a:off x="2219171" y="6084142"/>
            <a:ext cx="2562225" cy="5429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hought Bubble: Cloud 6">
            <a:extLst>
              <a:ext uri="{FF2B5EF4-FFF2-40B4-BE49-F238E27FC236}">
                <a16:creationId xmlns:a16="http://schemas.microsoft.com/office/drawing/2014/main" id="{A9CBA81C-C591-29DA-D4D2-92E192314B55}"/>
              </a:ext>
            </a:extLst>
          </p:cNvPr>
          <p:cNvSpPr/>
          <p:nvPr/>
        </p:nvSpPr>
        <p:spPr>
          <a:xfrm>
            <a:off x="7108723" y="3495717"/>
            <a:ext cx="5171768" cy="2588425"/>
          </a:xfrm>
          <a:prstGeom prst="cloudCallou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a:solidFill>
                  <a:srgbClr val="000000"/>
                </a:solidFill>
              </a:rPr>
              <a:t>Because the dataset was small, we chose accuracy over quantity and removed rows with missing financial data.</a:t>
            </a:r>
            <a:endParaRPr lang="en-IN" sz="2400" b="1" dirty="0">
              <a:solidFill>
                <a:srgbClr val="000000"/>
              </a:solidFill>
            </a:endParaRPr>
          </a:p>
        </p:txBody>
      </p:sp>
      <p:sp>
        <p:nvSpPr>
          <p:cNvPr id="3" name="Arrow: Bent 2">
            <a:extLst>
              <a:ext uri="{FF2B5EF4-FFF2-40B4-BE49-F238E27FC236}">
                <a16:creationId xmlns:a16="http://schemas.microsoft.com/office/drawing/2014/main" id="{95520906-11DE-7DE1-48CE-D59619C19D53}"/>
              </a:ext>
            </a:extLst>
          </p:cNvPr>
          <p:cNvSpPr/>
          <p:nvPr/>
        </p:nvSpPr>
        <p:spPr>
          <a:xfrm>
            <a:off x="1533832" y="1494502"/>
            <a:ext cx="1157945" cy="1415845"/>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96645" y="226142"/>
            <a:ext cx="4227871" cy="580103"/>
          </a:xfrm>
        </p:spPr>
        <p:txBody>
          <a:bodyPr/>
          <a:lstStyle/>
          <a:p>
            <a:r>
              <a:rPr lang="en-US" dirty="0"/>
              <a:t>Exploratory Insights</a:t>
            </a:r>
          </a:p>
        </p:txBody>
      </p:sp>
      <p:pic>
        <p:nvPicPr>
          <p:cNvPr id="2" name="Content Placeholder 1">
            <a:extLst>
              <a:ext uri="{FF2B5EF4-FFF2-40B4-BE49-F238E27FC236}">
                <a16:creationId xmlns:a16="http://schemas.microsoft.com/office/drawing/2014/main" id="{18B52857-1E1C-652F-A419-8C5B29ED195C}"/>
              </a:ext>
            </a:extLst>
          </p:cNvPr>
          <p:cNvPicPr>
            <a:picLocks noGrp="1" noChangeAspect="1"/>
          </p:cNvPicPr>
          <p:nvPr>
            <p:ph sz="quarter" idx="10"/>
          </p:nvPr>
        </p:nvPicPr>
        <p:blipFill>
          <a:blip r:embed="rId3"/>
          <a:stretch>
            <a:fillRect/>
          </a:stretch>
        </p:blipFill>
        <p:spPr>
          <a:xfrm>
            <a:off x="549006" y="923704"/>
            <a:ext cx="5546994" cy="18293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pic>
        <p:nvPicPr>
          <p:cNvPr id="4" name="Picture 3">
            <a:extLst>
              <a:ext uri="{FF2B5EF4-FFF2-40B4-BE49-F238E27FC236}">
                <a16:creationId xmlns:a16="http://schemas.microsoft.com/office/drawing/2014/main" id="{79470AC5-F7E0-62F5-F075-9B9308B0F4A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59078" y="3068996"/>
            <a:ext cx="5730875" cy="3444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Rounded Corners 4">
            <a:extLst>
              <a:ext uri="{FF2B5EF4-FFF2-40B4-BE49-F238E27FC236}">
                <a16:creationId xmlns:a16="http://schemas.microsoft.com/office/drawing/2014/main" id="{3E2E3FDF-0BCE-331F-B3D3-3ABC86F4B231}"/>
              </a:ext>
            </a:extLst>
          </p:cNvPr>
          <p:cNvSpPr/>
          <p:nvPr/>
        </p:nvSpPr>
        <p:spPr>
          <a:xfrm>
            <a:off x="7457101" y="134066"/>
            <a:ext cx="4459595" cy="2934930"/>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lvl="0"/>
            <a:r>
              <a:rPr lang="en-IN" b="1" dirty="0">
                <a:solidFill>
                  <a:srgbClr val="FFFF00"/>
                </a:solidFill>
              </a:rPr>
              <a:t>The middle 50% (IQR) of sequels is clearly above that of originals.</a:t>
            </a:r>
          </a:p>
          <a:p>
            <a:pPr lvl="0"/>
            <a:r>
              <a:rPr lang="en-IN" b="1" dirty="0">
                <a:solidFill>
                  <a:srgbClr val="FFFF00"/>
                </a:solidFill>
              </a:rPr>
              <a:t>While originals sometimes become blockbusters, most originals earn much less compared to sequels.</a:t>
            </a:r>
          </a:p>
          <a:p>
            <a:pPr lvl="0"/>
            <a:r>
              <a:rPr lang="en-IN" b="1" dirty="0">
                <a:solidFill>
                  <a:srgbClr val="FFFF00"/>
                </a:solidFill>
              </a:rPr>
              <a:t>Sequels benefit from:</a:t>
            </a:r>
          </a:p>
          <a:p>
            <a:pPr lvl="1"/>
            <a:r>
              <a:rPr lang="en-IN" b="1" dirty="0">
                <a:solidFill>
                  <a:srgbClr val="FFFF00"/>
                </a:solidFill>
              </a:rPr>
              <a:t>Existing fan base</a:t>
            </a:r>
          </a:p>
          <a:p>
            <a:pPr lvl="1"/>
            <a:r>
              <a:rPr lang="en-IN" b="1" dirty="0">
                <a:solidFill>
                  <a:srgbClr val="FFFF00"/>
                </a:solidFill>
              </a:rPr>
              <a:t>Brand recognition</a:t>
            </a:r>
          </a:p>
          <a:p>
            <a:pPr lvl="1"/>
            <a:r>
              <a:rPr lang="en-IN" b="1" dirty="0">
                <a:solidFill>
                  <a:srgbClr val="FFFF00"/>
                </a:solidFill>
              </a:rPr>
              <a:t>Better marketing reach</a:t>
            </a:r>
          </a:p>
          <a:p>
            <a:pPr algn="ctr"/>
            <a:endParaRPr lang="en-IN" b="1" dirty="0">
              <a:solidFill>
                <a:srgbClr val="000000"/>
              </a:solidFill>
            </a:endParaRPr>
          </a:p>
        </p:txBody>
      </p:sp>
      <p:sp>
        <p:nvSpPr>
          <p:cNvPr id="6" name="Rectangle: Rounded Corners 5">
            <a:extLst>
              <a:ext uri="{FF2B5EF4-FFF2-40B4-BE49-F238E27FC236}">
                <a16:creationId xmlns:a16="http://schemas.microsoft.com/office/drawing/2014/main" id="{C704650F-9119-A51C-663D-412E0F2B74A4}"/>
              </a:ext>
            </a:extLst>
          </p:cNvPr>
          <p:cNvSpPr/>
          <p:nvPr/>
        </p:nvSpPr>
        <p:spPr>
          <a:xfrm>
            <a:off x="7555621" y="3694239"/>
            <a:ext cx="4459595" cy="2194388"/>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IN" b="1" dirty="0">
                <a:solidFill>
                  <a:srgbClr val="000000"/>
                </a:solidFill>
              </a:rPr>
              <a:t>Original movies show more extreme outliers.</a:t>
            </a:r>
          </a:p>
          <a:p>
            <a:pPr lvl="0"/>
            <a:r>
              <a:rPr lang="en-IN" b="1" dirty="0">
                <a:solidFill>
                  <a:srgbClr val="000000"/>
                </a:solidFill>
              </a:rPr>
              <a:t>Sequels show : Fewer extreme failures</a:t>
            </a:r>
          </a:p>
          <a:p>
            <a:pPr lvl="0"/>
            <a:endParaRPr lang="en-IN" b="1" dirty="0">
              <a:solidFill>
                <a:srgbClr val="000000"/>
              </a:solidFill>
            </a:endParaRPr>
          </a:p>
          <a:p>
            <a:pPr lvl="0"/>
            <a:r>
              <a:rPr lang="en-IN" b="1" dirty="0">
                <a:solidFill>
                  <a:srgbClr val="000000"/>
                </a:solidFill>
              </a:rPr>
              <a:t>Originals are high-risk, high-reward projects.</a:t>
            </a:r>
          </a:p>
          <a:p>
            <a:pPr lvl="0"/>
            <a:r>
              <a:rPr lang="en-IN" b="1" dirty="0">
                <a:solidFill>
                  <a:srgbClr val="000000"/>
                </a:solidFill>
              </a:rPr>
              <a:t>Sequels reduce financial uncertainty for studios.</a:t>
            </a:r>
          </a:p>
          <a:p>
            <a:pPr algn="ctr"/>
            <a:endParaRPr lang="en-IN" b="1" dirty="0">
              <a:solidFill>
                <a:srgbClr val="000000"/>
              </a:solidFill>
            </a:endParaRPr>
          </a:p>
        </p:txBody>
      </p:sp>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324464" y="206478"/>
            <a:ext cx="3529781" cy="619432"/>
          </a:xfrm>
        </p:spPr>
        <p:txBody>
          <a:bodyPr anchor="b"/>
          <a:lstStyle/>
          <a:p>
            <a:r>
              <a:rPr lang="en-US" sz="3200" dirty="0"/>
              <a:t>Feature Strategy</a:t>
            </a:r>
          </a:p>
        </p:txBody>
      </p:sp>
      <p:sp>
        <p:nvSpPr>
          <p:cNvPr id="4" name="Rectangle: Rounded Corners 3">
            <a:extLst>
              <a:ext uri="{FF2B5EF4-FFF2-40B4-BE49-F238E27FC236}">
                <a16:creationId xmlns:a16="http://schemas.microsoft.com/office/drawing/2014/main" id="{87C4086C-8BE4-EF0A-4CB6-61D404A2BB05}"/>
              </a:ext>
            </a:extLst>
          </p:cNvPr>
          <p:cNvSpPr/>
          <p:nvPr/>
        </p:nvSpPr>
        <p:spPr>
          <a:xfrm>
            <a:off x="1484670" y="825910"/>
            <a:ext cx="4188542" cy="2000864"/>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endParaRPr lang="en-US" b="1" dirty="0">
              <a:solidFill>
                <a:schemeClr val="tx1"/>
              </a:solidFill>
            </a:endParaRPr>
          </a:p>
          <a:p>
            <a:r>
              <a:rPr lang="en-US" b="1" dirty="0">
                <a:solidFill>
                  <a:srgbClr val="FF0000"/>
                </a:solidFill>
              </a:rPr>
              <a:t>Feature 1: </a:t>
            </a:r>
            <a:r>
              <a:rPr lang="en-US" b="1" dirty="0" err="1">
                <a:solidFill>
                  <a:srgbClr val="FF0000"/>
                </a:solidFill>
              </a:rPr>
              <a:t>is_sequel</a:t>
            </a:r>
            <a:r>
              <a:rPr lang="en-US" b="1" dirty="0">
                <a:solidFill>
                  <a:srgbClr val="FF0000"/>
                </a:solidFill>
              </a:rPr>
              <a:t> (Original vs Sequel)</a:t>
            </a:r>
          </a:p>
          <a:p>
            <a:r>
              <a:rPr lang="en-US" b="1" dirty="0">
                <a:solidFill>
                  <a:schemeClr val="tx1"/>
                </a:solidFill>
              </a:rPr>
              <a:t>Created a new column to label movies as:</a:t>
            </a:r>
            <a:r>
              <a:rPr lang="en-IN" b="1" dirty="0">
                <a:solidFill>
                  <a:schemeClr val="tx1"/>
                </a:solidFill>
              </a:rPr>
              <a:t> </a:t>
            </a:r>
            <a:r>
              <a:rPr lang="en-US" b="1" dirty="0">
                <a:solidFill>
                  <a:schemeClr val="tx1"/>
                </a:solidFill>
              </a:rPr>
              <a:t>Original</a:t>
            </a:r>
            <a:r>
              <a:rPr lang="en-IN" b="1" dirty="0">
                <a:solidFill>
                  <a:schemeClr val="tx1"/>
                </a:solidFill>
              </a:rPr>
              <a:t> and </a:t>
            </a:r>
            <a:r>
              <a:rPr lang="en-US" b="1" dirty="0">
                <a:solidFill>
                  <a:schemeClr val="tx1"/>
                </a:solidFill>
              </a:rPr>
              <a:t>Sequel</a:t>
            </a:r>
            <a:endParaRPr lang="en-IN" b="1" dirty="0">
              <a:solidFill>
                <a:schemeClr val="tx1"/>
              </a:solidFill>
            </a:endParaRPr>
          </a:p>
          <a:p>
            <a:r>
              <a:rPr lang="en-US" b="1" dirty="0">
                <a:solidFill>
                  <a:schemeClr val="tx1"/>
                </a:solidFill>
              </a:rPr>
              <a:t>Movie titles containing numbers like 2, 3, Part II, etc. were marked as Sequels</a:t>
            </a:r>
            <a:endParaRPr lang="en-IN" b="1" dirty="0">
              <a:solidFill>
                <a:schemeClr val="tx1"/>
              </a:solidFill>
            </a:endParaRPr>
          </a:p>
          <a:p>
            <a:r>
              <a:rPr lang="en-US" b="1" dirty="0">
                <a:solidFill>
                  <a:schemeClr val="tx1"/>
                </a:solidFill>
              </a:rPr>
              <a:t> All others were marked as Originals</a:t>
            </a:r>
            <a:endParaRPr lang="en-IN" b="1" dirty="0">
              <a:solidFill>
                <a:schemeClr val="tx1"/>
              </a:solidFill>
            </a:endParaRPr>
          </a:p>
          <a:p>
            <a:pPr algn="ctr"/>
            <a:endParaRPr lang="en-IN" b="1" dirty="0">
              <a:solidFill>
                <a:schemeClr val="tx1"/>
              </a:solidFill>
            </a:endParaRPr>
          </a:p>
        </p:txBody>
      </p:sp>
      <p:sp>
        <p:nvSpPr>
          <p:cNvPr id="6" name="Rectangle: Diagonal Corners Rounded 5">
            <a:extLst>
              <a:ext uri="{FF2B5EF4-FFF2-40B4-BE49-F238E27FC236}">
                <a16:creationId xmlns:a16="http://schemas.microsoft.com/office/drawing/2014/main" id="{248B98A2-ACA0-DA70-4E65-6EED82DA9D99}"/>
              </a:ext>
            </a:extLst>
          </p:cNvPr>
          <p:cNvSpPr/>
          <p:nvPr/>
        </p:nvSpPr>
        <p:spPr>
          <a:xfrm>
            <a:off x="8013290" y="4729316"/>
            <a:ext cx="3716592" cy="1563330"/>
          </a:xfrm>
          <a:prstGeom prst="round2Diag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b="1" dirty="0">
                <a:solidFill>
                  <a:srgbClr val="000000"/>
                </a:solidFill>
              </a:rPr>
              <a:t>Budget and box office revenue were used as separate numerical features to capture spending and earning patterns.</a:t>
            </a:r>
          </a:p>
          <a:p>
            <a:pPr algn="ctr"/>
            <a:endParaRPr lang="en-IN" b="1" dirty="0">
              <a:solidFill>
                <a:srgbClr val="000000"/>
              </a:solidFill>
            </a:endParaRPr>
          </a:p>
        </p:txBody>
      </p:sp>
      <p:sp>
        <p:nvSpPr>
          <p:cNvPr id="7" name="Rectangle: Rounded Corners 6">
            <a:extLst>
              <a:ext uri="{FF2B5EF4-FFF2-40B4-BE49-F238E27FC236}">
                <a16:creationId xmlns:a16="http://schemas.microsoft.com/office/drawing/2014/main" id="{A459A819-A490-BBFA-5DA9-0467DDB738F5}"/>
              </a:ext>
            </a:extLst>
          </p:cNvPr>
          <p:cNvSpPr/>
          <p:nvPr/>
        </p:nvSpPr>
        <p:spPr>
          <a:xfrm>
            <a:off x="6440128" y="825910"/>
            <a:ext cx="4483509" cy="219751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b="1" dirty="0">
                <a:solidFill>
                  <a:srgbClr val="FFC000"/>
                </a:solidFill>
              </a:rPr>
              <a:t>Feature 2: Budget Category (Low /  High)</a:t>
            </a:r>
            <a:endParaRPr lang="en-IN" b="1" dirty="0">
              <a:solidFill>
                <a:srgbClr val="FFC000"/>
              </a:solidFill>
            </a:endParaRPr>
          </a:p>
          <a:p>
            <a:r>
              <a:rPr lang="en-US" b="1" dirty="0">
                <a:solidFill>
                  <a:srgbClr val="000000"/>
                </a:solidFill>
              </a:rPr>
              <a:t>Why this helps</a:t>
            </a:r>
            <a:endParaRPr lang="en-IN" b="1" dirty="0">
              <a:solidFill>
                <a:srgbClr val="000000"/>
              </a:solidFill>
            </a:endParaRPr>
          </a:p>
          <a:p>
            <a:r>
              <a:rPr lang="en-US" b="1" dirty="0">
                <a:solidFill>
                  <a:srgbClr val="000000"/>
                </a:solidFill>
              </a:rPr>
              <a:t> Makes patterns easier to understand</a:t>
            </a:r>
            <a:endParaRPr lang="en-IN" b="1" dirty="0">
              <a:solidFill>
                <a:srgbClr val="000000"/>
              </a:solidFill>
            </a:endParaRPr>
          </a:p>
          <a:p>
            <a:r>
              <a:rPr lang="en-US" b="1" dirty="0">
                <a:solidFill>
                  <a:srgbClr val="000000"/>
                </a:solidFill>
              </a:rPr>
              <a:t> Helps compare success across budget levels</a:t>
            </a:r>
            <a:endParaRPr lang="en-IN" b="1" dirty="0">
              <a:solidFill>
                <a:srgbClr val="000000"/>
              </a:solidFill>
            </a:endParaRPr>
          </a:p>
          <a:p>
            <a:r>
              <a:rPr lang="en-US" b="1" dirty="0">
                <a:solidFill>
                  <a:srgbClr val="000000"/>
                </a:solidFill>
              </a:rPr>
              <a:t> Useful for business decisions</a:t>
            </a:r>
            <a:endParaRPr lang="en-IN" b="1" dirty="0">
              <a:solidFill>
                <a:srgbClr val="000000"/>
              </a:solidFill>
            </a:endParaRPr>
          </a:p>
          <a:p>
            <a:pPr algn="ctr"/>
            <a:endParaRPr lang="en-IN" b="1" dirty="0">
              <a:solidFill>
                <a:srgbClr val="000000"/>
              </a:solidFill>
            </a:endParaRPr>
          </a:p>
        </p:txBody>
      </p:sp>
      <p:pic>
        <p:nvPicPr>
          <p:cNvPr id="9" name="Picture 8">
            <a:extLst>
              <a:ext uri="{FF2B5EF4-FFF2-40B4-BE49-F238E27FC236}">
                <a16:creationId xmlns:a16="http://schemas.microsoft.com/office/drawing/2014/main" id="{05FC7B3C-CB8D-C7A0-A860-771D9C987E40}"/>
              </a:ext>
            </a:extLst>
          </p:cNvPr>
          <p:cNvPicPr>
            <a:picLocks noChangeAspect="1"/>
          </p:cNvPicPr>
          <p:nvPr/>
        </p:nvPicPr>
        <p:blipFill>
          <a:blip r:embed="rId3"/>
          <a:stretch>
            <a:fillRect/>
          </a:stretch>
        </p:blipFill>
        <p:spPr>
          <a:xfrm>
            <a:off x="2588202" y="3115379"/>
            <a:ext cx="2229603" cy="31127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Arrow: Left-Up 9">
            <a:extLst>
              <a:ext uri="{FF2B5EF4-FFF2-40B4-BE49-F238E27FC236}">
                <a16:creationId xmlns:a16="http://schemas.microsoft.com/office/drawing/2014/main" id="{7C752FD5-8F79-4387-E6C3-9E8DDB6DCE38}"/>
              </a:ext>
            </a:extLst>
          </p:cNvPr>
          <p:cNvSpPr/>
          <p:nvPr/>
        </p:nvSpPr>
        <p:spPr>
          <a:xfrm>
            <a:off x="5609301" y="3234814"/>
            <a:ext cx="2472815" cy="1494502"/>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9671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235974" y="78658"/>
            <a:ext cx="3618271" cy="629265"/>
          </a:xfrm>
        </p:spPr>
        <p:txBody>
          <a:bodyPr/>
          <a:lstStyle/>
          <a:p>
            <a:r>
              <a:rPr lang="en-US" sz="2800" dirty="0"/>
              <a:t>Modeling Approach</a:t>
            </a:r>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363794" y="1091382"/>
            <a:ext cx="5127559" cy="4824786"/>
          </a:xfrm>
        </p:spPr>
        <p:txBody>
          <a:bodyPr/>
          <a:lstStyle/>
          <a:p>
            <a:r>
              <a:rPr lang="en-US" dirty="0"/>
              <a:t>In our project, the goal is:</a:t>
            </a:r>
            <a:endParaRPr lang="en-IN" dirty="0"/>
          </a:p>
          <a:p>
            <a:r>
              <a:rPr lang="en-US" dirty="0"/>
              <a:t>To understand whether sequels perform better than original movies and what factors influence performance.</a:t>
            </a:r>
          </a:p>
          <a:p>
            <a:endParaRPr lang="en-IN" dirty="0"/>
          </a:p>
          <a:p>
            <a:pPr marL="342900" indent="-342900">
              <a:buFont typeface="Wingdings" panose="05000000000000000000" pitchFamily="2" charset="2"/>
              <a:buChar char="Ø"/>
            </a:pPr>
            <a:r>
              <a:rPr lang="en-US" dirty="0"/>
              <a:t>Handles Complex Relationships</a:t>
            </a:r>
            <a:endParaRPr lang="en-IN" dirty="0"/>
          </a:p>
          <a:p>
            <a:pPr marL="342900" indent="-342900">
              <a:buFont typeface="Wingdings" panose="05000000000000000000" pitchFamily="2" charset="2"/>
              <a:buChar char="Ø"/>
            </a:pPr>
            <a:r>
              <a:rPr lang="en-US" dirty="0"/>
              <a:t>Works Well With Mixed Data</a:t>
            </a:r>
            <a:endParaRPr lang="en-IN" dirty="0"/>
          </a:p>
          <a:p>
            <a:pPr lvl="1">
              <a:buFont typeface="Wingdings" panose="05000000000000000000" pitchFamily="2" charset="2"/>
              <a:buChar char="Ø"/>
            </a:pPr>
            <a:r>
              <a:rPr lang="en-US" dirty="0"/>
              <a:t>  Less Sensitive to Outliers</a:t>
            </a:r>
          </a:p>
          <a:p>
            <a:pPr marL="342900" indent="-342900">
              <a:buFont typeface="Wingdings" panose="05000000000000000000" pitchFamily="2" charset="2"/>
              <a:buChar char="Ø"/>
            </a:pPr>
            <a:r>
              <a:rPr lang="en-US" dirty="0"/>
              <a:t>Better Performance Than GLM</a:t>
            </a:r>
          </a:p>
          <a:p>
            <a:pPr marL="342900" indent="-342900">
              <a:buFont typeface="Wingdings" panose="05000000000000000000" pitchFamily="2" charset="2"/>
              <a:buChar char="Ø"/>
            </a:pPr>
            <a:r>
              <a:rPr lang="en-US" dirty="0"/>
              <a:t>Helps Understand Feature Importance</a:t>
            </a:r>
            <a:endParaRPr lang="en-IN"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
        <p:nvSpPr>
          <p:cNvPr id="3" name="Rectangle: Rounded Corners 2">
            <a:extLst>
              <a:ext uri="{FF2B5EF4-FFF2-40B4-BE49-F238E27FC236}">
                <a16:creationId xmlns:a16="http://schemas.microsoft.com/office/drawing/2014/main" id="{0DC12C3A-BAF2-ECA3-7F54-B1291FBB7F8E}"/>
              </a:ext>
            </a:extLst>
          </p:cNvPr>
          <p:cNvSpPr/>
          <p:nvPr/>
        </p:nvSpPr>
        <p:spPr>
          <a:xfrm>
            <a:off x="6410632" y="334297"/>
            <a:ext cx="2290915" cy="53094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IN" b="1" dirty="0">
                <a:solidFill>
                  <a:srgbClr val="000000"/>
                </a:solidFill>
              </a:rPr>
              <a:t>Step 1: Load Libraries</a:t>
            </a:r>
          </a:p>
        </p:txBody>
      </p:sp>
      <p:pic>
        <p:nvPicPr>
          <p:cNvPr id="4" name="Picture 3">
            <a:extLst>
              <a:ext uri="{FF2B5EF4-FFF2-40B4-BE49-F238E27FC236}">
                <a16:creationId xmlns:a16="http://schemas.microsoft.com/office/drawing/2014/main" id="{D0F03CA6-DAD6-F177-0833-5EA35D6A8F7E}"/>
              </a:ext>
            </a:extLst>
          </p:cNvPr>
          <p:cNvPicPr>
            <a:picLocks noChangeAspect="1"/>
          </p:cNvPicPr>
          <p:nvPr/>
        </p:nvPicPr>
        <p:blipFill>
          <a:blip r:embed="rId3"/>
          <a:stretch>
            <a:fillRect/>
          </a:stretch>
        </p:blipFill>
        <p:spPr>
          <a:xfrm>
            <a:off x="6561803" y="1091382"/>
            <a:ext cx="3276600" cy="1190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Rounded Corners 5">
            <a:extLst>
              <a:ext uri="{FF2B5EF4-FFF2-40B4-BE49-F238E27FC236}">
                <a16:creationId xmlns:a16="http://schemas.microsoft.com/office/drawing/2014/main" id="{793ABE0A-0BF9-0080-2CA8-74FD5BD2AA10}"/>
              </a:ext>
            </a:extLst>
          </p:cNvPr>
          <p:cNvSpPr/>
          <p:nvPr/>
        </p:nvSpPr>
        <p:spPr>
          <a:xfrm>
            <a:off x="6410631" y="2508150"/>
            <a:ext cx="3018503" cy="53094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IN" b="1" dirty="0">
                <a:solidFill>
                  <a:srgbClr val="000000"/>
                </a:solidFill>
              </a:rPr>
              <a:t>Step 2: Create Sequel Variable</a:t>
            </a:r>
          </a:p>
        </p:txBody>
      </p:sp>
      <p:pic>
        <p:nvPicPr>
          <p:cNvPr id="7" name="Picture 6">
            <a:extLst>
              <a:ext uri="{FF2B5EF4-FFF2-40B4-BE49-F238E27FC236}">
                <a16:creationId xmlns:a16="http://schemas.microsoft.com/office/drawing/2014/main" id="{6008CE55-58A9-1978-3CDE-6A3BC69FF017}"/>
              </a:ext>
            </a:extLst>
          </p:cNvPr>
          <p:cNvPicPr>
            <a:picLocks noChangeAspect="1"/>
          </p:cNvPicPr>
          <p:nvPr/>
        </p:nvPicPr>
        <p:blipFill>
          <a:blip r:embed="rId4"/>
          <a:stretch>
            <a:fillRect/>
          </a:stretch>
        </p:blipFill>
        <p:spPr>
          <a:xfrm>
            <a:off x="5556821" y="3265235"/>
            <a:ext cx="5731510" cy="16402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B020799C-47C2-2384-21DD-D48C4F911BC0}"/>
              </a:ext>
            </a:extLst>
          </p:cNvPr>
          <p:cNvPicPr>
            <a:picLocks noChangeAspect="1"/>
          </p:cNvPicPr>
          <p:nvPr/>
        </p:nvPicPr>
        <p:blipFill>
          <a:blip r:embed="rId5"/>
          <a:stretch>
            <a:fillRect/>
          </a:stretch>
        </p:blipFill>
        <p:spPr>
          <a:xfrm>
            <a:off x="6410631" y="5158622"/>
            <a:ext cx="2714625" cy="8858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3010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
        <p:nvSpPr>
          <p:cNvPr id="4" name="Rectangle: Rounded Corners 3">
            <a:extLst>
              <a:ext uri="{FF2B5EF4-FFF2-40B4-BE49-F238E27FC236}">
                <a16:creationId xmlns:a16="http://schemas.microsoft.com/office/drawing/2014/main" id="{B076C674-C32F-8EC9-5B5A-59A42FBA71A7}"/>
              </a:ext>
            </a:extLst>
          </p:cNvPr>
          <p:cNvSpPr/>
          <p:nvPr/>
        </p:nvSpPr>
        <p:spPr>
          <a:xfrm>
            <a:off x="668594" y="393290"/>
            <a:ext cx="4454012" cy="845576"/>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b="1" dirty="0">
              <a:solidFill>
                <a:srgbClr val="000000"/>
              </a:solidFill>
            </a:endParaRPr>
          </a:p>
          <a:p>
            <a:pPr algn="ctr"/>
            <a:r>
              <a:rPr lang="en-IN" b="1" dirty="0">
                <a:solidFill>
                  <a:srgbClr val="000000"/>
                </a:solidFill>
              </a:rPr>
              <a:t>Step 3: Create Target Variable (High vs Low Rating)</a:t>
            </a:r>
          </a:p>
          <a:p>
            <a:pPr algn="ctr"/>
            <a:endParaRPr lang="en-IN" b="1" dirty="0">
              <a:solidFill>
                <a:srgbClr val="000000"/>
              </a:solidFill>
            </a:endParaRPr>
          </a:p>
        </p:txBody>
      </p:sp>
      <p:pic>
        <p:nvPicPr>
          <p:cNvPr id="6" name="Picture 5">
            <a:extLst>
              <a:ext uri="{FF2B5EF4-FFF2-40B4-BE49-F238E27FC236}">
                <a16:creationId xmlns:a16="http://schemas.microsoft.com/office/drawing/2014/main" id="{00C04628-82CA-3668-8EE9-F08123561CC2}"/>
              </a:ext>
            </a:extLst>
          </p:cNvPr>
          <p:cNvPicPr>
            <a:picLocks noChangeAspect="1"/>
          </p:cNvPicPr>
          <p:nvPr/>
        </p:nvPicPr>
        <p:blipFill>
          <a:blip r:embed="rId3"/>
          <a:stretch>
            <a:fillRect/>
          </a:stretch>
        </p:blipFill>
        <p:spPr>
          <a:xfrm>
            <a:off x="519563" y="1559486"/>
            <a:ext cx="5410835" cy="2047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angle: Rounded Corners 8">
            <a:extLst>
              <a:ext uri="{FF2B5EF4-FFF2-40B4-BE49-F238E27FC236}">
                <a16:creationId xmlns:a16="http://schemas.microsoft.com/office/drawing/2014/main" id="{7D5FEA16-C80F-855B-0451-C84CB6ED01C5}"/>
              </a:ext>
            </a:extLst>
          </p:cNvPr>
          <p:cNvSpPr/>
          <p:nvPr/>
        </p:nvSpPr>
        <p:spPr>
          <a:xfrm>
            <a:off x="668594" y="3927981"/>
            <a:ext cx="3696929" cy="722677"/>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US" b="1" dirty="0">
                <a:solidFill>
                  <a:srgbClr val="000000"/>
                </a:solidFill>
              </a:rPr>
              <a:t>Step 4: </a:t>
            </a:r>
            <a:r>
              <a:rPr lang="en-IN" b="1" dirty="0">
                <a:solidFill>
                  <a:srgbClr val="000000"/>
                </a:solidFill>
              </a:rPr>
              <a:t>Select Only Required Columns</a:t>
            </a:r>
          </a:p>
        </p:txBody>
      </p:sp>
      <p:pic>
        <p:nvPicPr>
          <p:cNvPr id="13" name="Picture 12">
            <a:extLst>
              <a:ext uri="{FF2B5EF4-FFF2-40B4-BE49-F238E27FC236}">
                <a16:creationId xmlns:a16="http://schemas.microsoft.com/office/drawing/2014/main" id="{F1A2FADD-A4C8-CE1A-F77F-963A16037250}"/>
              </a:ext>
            </a:extLst>
          </p:cNvPr>
          <p:cNvPicPr>
            <a:picLocks noChangeAspect="1"/>
          </p:cNvPicPr>
          <p:nvPr/>
        </p:nvPicPr>
        <p:blipFill>
          <a:blip r:embed="rId4"/>
          <a:stretch>
            <a:fillRect/>
          </a:stretch>
        </p:blipFill>
        <p:spPr>
          <a:xfrm>
            <a:off x="1069258" y="4847763"/>
            <a:ext cx="2895600" cy="17049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4" name="Rectangle: Rounded Corners 13">
            <a:extLst>
              <a:ext uri="{FF2B5EF4-FFF2-40B4-BE49-F238E27FC236}">
                <a16:creationId xmlns:a16="http://schemas.microsoft.com/office/drawing/2014/main" id="{0015E226-F3DC-938A-A19E-843C26EDFBD2}"/>
              </a:ext>
            </a:extLst>
          </p:cNvPr>
          <p:cNvSpPr/>
          <p:nvPr/>
        </p:nvSpPr>
        <p:spPr>
          <a:xfrm>
            <a:off x="7162801" y="282670"/>
            <a:ext cx="2453147" cy="513744"/>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IN" b="1" dirty="0">
                <a:solidFill>
                  <a:srgbClr val="000000"/>
                </a:solidFill>
              </a:rPr>
              <a:t>STEP 5: Train–Test Split</a:t>
            </a:r>
          </a:p>
        </p:txBody>
      </p:sp>
      <p:pic>
        <p:nvPicPr>
          <p:cNvPr id="15" name="Picture 14">
            <a:extLst>
              <a:ext uri="{FF2B5EF4-FFF2-40B4-BE49-F238E27FC236}">
                <a16:creationId xmlns:a16="http://schemas.microsoft.com/office/drawing/2014/main" id="{5EFAF450-778B-342D-547B-C7561F68F661}"/>
              </a:ext>
            </a:extLst>
          </p:cNvPr>
          <p:cNvPicPr>
            <a:picLocks noChangeAspect="1"/>
          </p:cNvPicPr>
          <p:nvPr/>
        </p:nvPicPr>
        <p:blipFill>
          <a:blip r:embed="rId5"/>
          <a:stretch>
            <a:fillRect/>
          </a:stretch>
        </p:blipFill>
        <p:spPr>
          <a:xfrm>
            <a:off x="6826813" y="1054355"/>
            <a:ext cx="3831355" cy="24110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9" name="Rectangle: Rounded Corners 18">
            <a:extLst>
              <a:ext uri="{FF2B5EF4-FFF2-40B4-BE49-F238E27FC236}">
                <a16:creationId xmlns:a16="http://schemas.microsoft.com/office/drawing/2014/main" id="{41758192-FEB1-B4B5-B54E-95262D2A033C}"/>
              </a:ext>
            </a:extLst>
          </p:cNvPr>
          <p:cNvSpPr/>
          <p:nvPr/>
        </p:nvSpPr>
        <p:spPr>
          <a:xfrm>
            <a:off x="7162801" y="3607361"/>
            <a:ext cx="3623186" cy="443529"/>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IN" b="1" dirty="0">
                <a:solidFill>
                  <a:srgbClr val="000000"/>
                </a:solidFill>
              </a:rPr>
              <a:t>STEP 6: Train Random Forest Model</a:t>
            </a:r>
          </a:p>
        </p:txBody>
      </p:sp>
      <p:pic>
        <p:nvPicPr>
          <p:cNvPr id="20" name="Picture 19">
            <a:extLst>
              <a:ext uri="{FF2B5EF4-FFF2-40B4-BE49-F238E27FC236}">
                <a16:creationId xmlns:a16="http://schemas.microsoft.com/office/drawing/2014/main" id="{327A15FC-1072-F303-55FF-E5134A1F2BBC}"/>
              </a:ext>
            </a:extLst>
          </p:cNvPr>
          <p:cNvPicPr>
            <a:picLocks noChangeAspect="1"/>
          </p:cNvPicPr>
          <p:nvPr/>
        </p:nvPicPr>
        <p:blipFill>
          <a:blip r:embed="rId6"/>
          <a:stretch>
            <a:fillRect/>
          </a:stretch>
        </p:blipFill>
        <p:spPr>
          <a:xfrm>
            <a:off x="7304215" y="4289319"/>
            <a:ext cx="2876550" cy="1800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48348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206477" y="88490"/>
            <a:ext cx="3765755" cy="580104"/>
          </a:xfrm>
        </p:spPr>
        <p:txBody>
          <a:bodyPr/>
          <a:lstStyle/>
          <a:p>
            <a:r>
              <a:rPr lang="en-US" dirty="0"/>
              <a:t>Model Evaluation</a:t>
            </a:r>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609599" y="849408"/>
            <a:ext cx="3057833" cy="580104"/>
          </a:xfrm>
        </p:spPr>
        <p:txBody>
          <a:bodyPr/>
          <a:lstStyle/>
          <a:p>
            <a:r>
              <a:rPr lang="en-IN" dirty="0"/>
              <a:t>STEP 7: Evaluate the Model</a:t>
            </a:r>
          </a:p>
          <a:p>
            <a:endParaRPr lang="en-US" dirty="0"/>
          </a:p>
        </p:txBody>
      </p:sp>
      <p:pic>
        <p:nvPicPr>
          <p:cNvPr id="7" name="Picture 6">
            <a:extLst>
              <a:ext uri="{FF2B5EF4-FFF2-40B4-BE49-F238E27FC236}">
                <a16:creationId xmlns:a16="http://schemas.microsoft.com/office/drawing/2014/main" id="{34695842-CCB6-E665-6C2D-F3386FB56DBB}"/>
              </a:ext>
            </a:extLst>
          </p:cNvPr>
          <p:cNvPicPr>
            <a:picLocks noChangeAspect="1"/>
          </p:cNvPicPr>
          <p:nvPr/>
        </p:nvPicPr>
        <p:blipFill>
          <a:blip r:embed="rId3"/>
          <a:stretch>
            <a:fillRect/>
          </a:stretch>
        </p:blipFill>
        <p:spPr>
          <a:xfrm>
            <a:off x="609599" y="1429512"/>
            <a:ext cx="4950193" cy="47001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E5EB0D63-9732-62D2-2F21-39D680A4DC46}"/>
              </a:ext>
            </a:extLst>
          </p:cNvPr>
          <p:cNvPicPr>
            <a:picLocks noChangeAspect="1"/>
          </p:cNvPicPr>
          <p:nvPr/>
        </p:nvPicPr>
        <p:blipFill>
          <a:blip r:embed="rId4"/>
          <a:stretch>
            <a:fillRect/>
          </a:stretch>
        </p:blipFill>
        <p:spPr>
          <a:xfrm>
            <a:off x="6873363" y="1148524"/>
            <a:ext cx="3695700" cy="5619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A2473756-AF92-7660-996C-57FCEC472D1F}"/>
              </a:ext>
            </a:extLst>
          </p:cNvPr>
          <p:cNvPicPr>
            <a:picLocks noChangeAspect="1"/>
          </p:cNvPicPr>
          <p:nvPr/>
        </p:nvPicPr>
        <p:blipFill>
          <a:blip r:embed="rId5"/>
          <a:stretch>
            <a:fillRect/>
          </a:stretch>
        </p:blipFill>
        <p:spPr>
          <a:xfrm>
            <a:off x="6096000" y="2461556"/>
            <a:ext cx="5731510" cy="31934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59909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a:xfrm>
            <a:off x="196645" y="88490"/>
            <a:ext cx="3182938" cy="717755"/>
          </a:xfrm>
        </p:spPr>
        <p:txBody>
          <a:bodyPr/>
          <a:lstStyle/>
          <a:p>
            <a:r>
              <a:rPr lang="en-US" dirty="0"/>
              <a:t>The "So What?"</a:t>
            </a:r>
          </a:p>
        </p:txBody>
      </p:sp>
      <p:sp>
        <p:nvSpPr>
          <p:cNvPr id="3" name="Content Placeholder 2">
            <a:extLst>
              <a:ext uri="{FF2B5EF4-FFF2-40B4-BE49-F238E27FC236}">
                <a16:creationId xmlns:a16="http://schemas.microsoft.com/office/drawing/2014/main" id="{CF3ADB94-FC21-07C5-1FC9-E729C5DEDFC6}"/>
              </a:ext>
            </a:extLst>
          </p:cNvPr>
          <p:cNvSpPr>
            <a:spLocks noGrp="1"/>
          </p:cNvSpPr>
          <p:nvPr>
            <p:ph sz="quarter" idx="12"/>
          </p:nvPr>
        </p:nvSpPr>
        <p:spPr>
          <a:xfrm>
            <a:off x="363792" y="947729"/>
            <a:ext cx="9783098" cy="5128605"/>
          </a:xfrm>
        </p:spPr>
        <p:txBody>
          <a:bodyPr/>
          <a:lstStyle/>
          <a:p>
            <a:endParaRPr lang="en-IN" b="1" dirty="0">
              <a:solidFill>
                <a:srgbClr val="FF0000"/>
              </a:solidFill>
            </a:endParaRPr>
          </a:p>
          <a:p>
            <a:r>
              <a:rPr lang="en-IN" b="1" dirty="0">
                <a:solidFill>
                  <a:srgbClr val="FF0000"/>
                </a:solidFill>
              </a:rPr>
              <a:t>Recommendation 1: Focus on Quality to Achieve High Ratings</a:t>
            </a:r>
            <a:endParaRPr lang="en-IN" dirty="0">
              <a:solidFill>
                <a:srgbClr val="FF0000"/>
              </a:solidFill>
            </a:endParaRPr>
          </a:p>
          <a:p>
            <a:pPr lvl="0"/>
            <a:r>
              <a:rPr lang="en-IN" dirty="0"/>
              <a:t>The model shows that </a:t>
            </a:r>
            <a:r>
              <a:rPr lang="en-IN" b="1" dirty="0"/>
              <a:t>movie rating is the strongest factor</a:t>
            </a:r>
            <a:r>
              <a:rPr lang="en-IN" dirty="0"/>
              <a:t> in predicting success.</a:t>
            </a:r>
          </a:p>
          <a:p>
            <a:pPr lvl="0"/>
            <a:r>
              <a:rPr lang="en-IN" dirty="0"/>
              <a:t>Movies with higher ratings consistently fall into the </a:t>
            </a:r>
            <a:r>
              <a:rPr lang="en-IN" b="1" dirty="0"/>
              <a:t>High</a:t>
            </a:r>
            <a:r>
              <a:rPr lang="en-IN" dirty="0"/>
              <a:t> category.</a:t>
            </a:r>
          </a:p>
          <a:p>
            <a:r>
              <a:rPr lang="en-IN" b="1" dirty="0">
                <a:solidFill>
                  <a:srgbClr val="FF0000"/>
                </a:solidFill>
              </a:rPr>
              <a:t>Recommendation 2: Budget and Box Office Matter, but Smart Spending Wins</a:t>
            </a:r>
            <a:endParaRPr lang="en-IN" dirty="0">
              <a:solidFill>
                <a:srgbClr val="FF0000"/>
              </a:solidFill>
            </a:endParaRPr>
          </a:p>
          <a:p>
            <a:pPr lvl="0"/>
            <a:r>
              <a:rPr lang="en-IN" b="1" dirty="0"/>
              <a:t>Budget and box office</a:t>
            </a:r>
            <a:r>
              <a:rPr lang="en-IN" dirty="0"/>
              <a:t> are important predictors, but not as strong as ratings.</a:t>
            </a:r>
          </a:p>
          <a:p>
            <a:pPr lvl="0"/>
            <a:r>
              <a:rPr lang="en-IN" dirty="0"/>
              <a:t>High budget alone does </a:t>
            </a:r>
            <a:r>
              <a:rPr lang="en-IN" b="1" dirty="0"/>
              <a:t>not guarantee</a:t>
            </a:r>
            <a:r>
              <a:rPr lang="en-IN" dirty="0"/>
              <a:t> a high-rated movie.</a:t>
            </a:r>
          </a:p>
          <a:p>
            <a:r>
              <a:rPr lang="en-IN" b="1" dirty="0">
                <a:solidFill>
                  <a:srgbClr val="FF0000"/>
                </a:solidFill>
              </a:rPr>
              <a:t>Recommendation 3: Sequels Are Not Automatically Better</a:t>
            </a:r>
            <a:endParaRPr lang="en-IN" dirty="0">
              <a:solidFill>
                <a:srgbClr val="FF0000"/>
              </a:solidFill>
            </a:endParaRPr>
          </a:p>
          <a:p>
            <a:pPr lvl="0"/>
            <a:r>
              <a:rPr lang="en-IN" dirty="0"/>
              <a:t>The variable </a:t>
            </a:r>
            <a:r>
              <a:rPr lang="en-IN" b="1" dirty="0" err="1"/>
              <a:t>is_sequel</a:t>
            </a:r>
            <a:r>
              <a:rPr lang="en-IN" dirty="0"/>
              <a:t> had lower importance compared to ratings and budget.</a:t>
            </a:r>
          </a:p>
          <a:p>
            <a:r>
              <a:rPr lang="en-IN" dirty="0"/>
              <a:t>Being a sequel does not guarantee higher ratings.</a:t>
            </a:r>
          </a:p>
          <a:p>
            <a:r>
              <a:rPr lang="en-IN" b="1" dirty="0">
                <a:solidFill>
                  <a:srgbClr val="FF0000"/>
                </a:solidFill>
              </a:rPr>
              <a:t>Movie success is driven more by quality and audience reception than by high budgets or sequel branding.</a:t>
            </a:r>
          </a:p>
          <a:p>
            <a:endParaRPr lang="en-US" dirty="0"/>
          </a:p>
        </p:txBody>
      </p:sp>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537809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B33A77B-664F-FFD3-D61A-0D344C269A12}"/>
              </a:ext>
            </a:extLst>
          </p:cNvPr>
          <p:cNvSpPr>
            <a:spLocks noGrp="1"/>
          </p:cNvSpPr>
          <p:nvPr>
            <p:ph type="title"/>
          </p:nvPr>
        </p:nvSpPr>
        <p:spPr>
          <a:xfrm>
            <a:off x="196645" y="117987"/>
            <a:ext cx="4277032" cy="560439"/>
          </a:xfrm>
        </p:spPr>
        <p:txBody>
          <a:bodyPr/>
          <a:lstStyle/>
          <a:p>
            <a:r>
              <a:rPr lang="en-US" dirty="0"/>
              <a:t>Technical Reflection</a:t>
            </a:r>
          </a:p>
        </p:txBody>
      </p:sp>
      <p:sp>
        <p:nvSpPr>
          <p:cNvPr id="3" name="Content Placeholder 2">
            <a:extLst>
              <a:ext uri="{FF2B5EF4-FFF2-40B4-BE49-F238E27FC236}">
                <a16:creationId xmlns:a16="http://schemas.microsoft.com/office/drawing/2014/main" id="{DA4B0F3C-5228-C9FB-1212-1D4894C80B46}"/>
              </a:ext>
            </a:extLst>
          </p:cNvPr>
          <p:cNvSpPr>
            <a:spLocks noGrp="1"/>
          </p:cNvSpPr>
          <p:nvPr>
            <p:ph sz="quarter" idx="13"/>
          </p:nvPr>
        </p:nvSpPr>
        <p:spPr>
          <a:xfrm>
            <a:off x="521109" y="819910"/>
            <a:ext cx="11100620" cy="5679213"/>
          </a:xfrm>
        </p:spPr>
        <p:txBody>
          <a:bodyPr>
            <a:noAutofit/>
          </a:bodyPr>
          <a:lstStyle/>
          <a:p>
            <a:pPr marL="0" indent="0">
              <a:buNone/>
            </a:pPr>
            <a:r>
              <a:rPr lang="en-US" b="1" dirty="0">
                <a:solidFill>
                  <a:srgbClr val="FF0000"/>
                </a:solidFill>
                <a:latin typeface="Calibri" panose="020F0502020204030204" pitchFamily="34" charset="0"/>
                <a:ea typeface="Calibri" panose="020F0502020204030204" pitchFamily="34" charset="0"/>
                <a:cs typeface="Calibri" panose="020F0502020204030204" pitchFamily="34" charset="0"/>
              </a:rPr>
              <a:t>R Libraries Used</a:t>
            </a:r>
            <a:endParaRPr lang="en-IN"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err="1">
                <a:solidFill>
                  <a:srgbClr val="FFC000"/>
                </a:solidFill>
                <a:latin typeface="Calibri" panose="020F0502020204030204" pitchFamily="34" charset="0"/>
                <a:ea typeface="Calibri" panose="020F0502020204030204" pitchFamily="34" charset="0"/>
                <a:cs typeface="Calibri" panose="020F0502020204030204" pitchFamily="34" charset="0"/>
              </a:rPr>
              <a:t>tidyverse</a:t>
            </a:r>
            <a:r>
              <a:rPr lang="en-US" b="1" dirty="0">
                <a:solidFill>
                  <a:srgbClr val="FFC000"/>
                </a:solidFill>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 Data cleaning, filtering, and manipulation</a:t>
            </a:r>
            <a:endParaRPr lang="en-IN"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solidFill>
                  <a:srgbClr val="FFC000"/>
                </a:solidFill>
                <a:latin typeface="Calibri" panose="020F0502020204030204" pitchFamily="34" charset="0"/>
                <a:ea typeface="Calibri" panose="020F0502020204030204" pitchFamily="34" charset="0"/>
                <a:cs typeface="Calibri" panose="020F0502020204030204" pitchFamily="34" charset="0"/>
              </a:rPr>
              <a:t>ggplot2 </a:t>
            </a:r>
            <a:r>
              <a:rPr lang="en-US" b="1" dirty="0">
                <a:latin typeface="Calibri" panose="020F0502020204030204" pitchFamily="34" charset="0"/>
                <a:ea typeface="Calibri" panose="020F0502020204030204" pitchFamily="34" charset="0"/>
                <a:cs typeface="Calibri" panose="020F0502020204030204" pitchFamily="34" charset="0"/>
              </a:rPr>
              <a:t>– Creating boxplots, bar charts, and visual insights</a:t>
            </a:r>
            <a:endParaRPr lang="en-IN"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solidFill>
                  <a:srgbClr val="FFC000"/>
                </a:solidFill>
                <a:latin typeface="Calibri" panose="020F0502020204030204" pitchFamily="34" charset="0"/>
                <a:ea typeface="Calibri" panose="020F0502020204030204" pitchFamily="34" charset="0"/>
                <a:cs typeface="Calibri" panose="020F0502020204030204" pitchFamily="34" charset="0"/>
              </a:rPr>
              <a:t>caret </a:t>
            </a:r>
            <a:r>
              <a:rPr lang="en-US" b="1" dirty="0">
                <a:latin typeface="Calibri" panose="020F0502020204030204" pitchFamily="34" charset="0"/>
                <a:ea typeface="Calibri" panose="020F0502020204030204" pitchFamily="34" charset="0"/>
                <a:cs typeface="Calibri" panose="020F0502020204030204" pitchFamily="34" charset="0"/>
              </a:rPr>
              <a:t>– Data splitting, model evaluation, and confusion matrix</a:t>
            </a:r>
            <a:endParaRPr lang="en-IN"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err="1">
                <a:solidFill>
                  <a:srgbClr val="FFC000"/>
                </a:solidFill>
                <a:latin typeface="Calibri" panose="020F0502020204030204" pitchFamily="34" charset="0"/>
                <a:ea typeface="Calibri" panose="020F0502020204030204" pitchFamily="34" charset="0"/>
                <a:cs typeface="Calibri" panose="020F0502020204030204" pitchFamily="34" charset="0"/>
              </a:rPr>
              <a:t>randomForest</a:t>
            </a:r>
            <a:r>
              <a:rPr lang="en-US" b="1" dirty="0">
                <a:latin typeface="Calibri" panose="020F0502020204030204" pitchFamily="34" charset="0"/>
                <a:ea typeface="Calibri" panose="020F0502020204030204" pitchFamily="34" charset="0"/>
                <a:cs typeface="Calibri" panose="020F0502020204030204" pitchFamily="34" charset="0"/>
              </a:rPr>
              <a:t> – Building the prediction model</a:t>
            </a:r>
            <a:endParaRPr lang="en-IN"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err="1">
                <a:solidFill>
                  <a:srgbClr val="FFC000"/>
                </a:solidFill>
                <a:latin typeface="Calibri" panose="020F0502020204030204" pitchFamily="34" charset="0"/>
                <a:ea typeface="Calibri" panose="020F0502020204030204" pitchFamily="34" charset="0"/>
                <a:cs typeface="Calibri" panose="020F0502020204030204" pitchFamily="34" charset="0"/>
              </a:rPr>
              <a:t>stringr</a:t>
            </a:r>
            <a:r>
              <a:rPr lang="en-US" b="1" dirty="0">
                <a:solidFill>
                  <a:srgbClr val="FFC000"/>
                </a:solidFill>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 Text handling (detecting sequels from movie titles)</a:t>
            </a:r>
            <a:endParaRPr lang="en-IN"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solidFill>
                  <a:srgbClr val="FF0000"/>
                </a:solidFill>
                <a:latin typeface="Calibri" panose="020F0502020204030204" pitchFamily="34" charset="0"/>
                <a:ea typeface="Calibri" panose="020F0502020204030204" pitchFamily="34" charset="0"/>
                <a:cs typeface="Calibri" panose="020F0502020204030204" pitchFamily="34" charset="0"/>
              </a:rPr>
              <a:t> Biggest Coding Challenges Faced</a:t>
            </a:r>
            <a:endParaRPr lang="en-IN"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a:solidFill>
                  <a:srgbClr val="00B0F0"/>
                </a:solidFill>
                <a:latin typeface="Calibri" panose="020F0502020204030204" pitchFamily="34" charset="0"/>
                <a:ea typeface="Calibri" panose="020F0502020204030204" pitchFamily="34" charset="0"/>
                <a:cs typeface="Calibri" panose="020F0502020204030204" pitchFamily="34" charset="0"/>
              </a:rPr>
              <a:t>Handling Missing Values</a:t>
            </a:r>
            <a:endParaRPr lang="en-IN" b="1" dirty="0">
              <a:solidFill>
                <a:srgbClr val="00B0F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Budget and box office columns had many missing values, which caused model errors.</a:t>
            </a:r>
            <a:endParaRPr lang="en-IN"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a:solidFill>
                  <a:srgbClr val="00B0F0"/>
                </a:solidFill>
                <a:latin typeface="Calibri" panose="020F0502020204030204" pitchFamily="34" charset="0"/>
                <a:ea typeface="Calibri" panose="020F0502020204030204" pitchFamily="34" charset="0"/>
                <a:cs typeface="Calibri" panose="020F0502020204030204" pitchFamily="34" charset="0"/>
              </a:rPr>
              <a:t>Feature Engineering</a:t>
            </a:r>
            <a:endParaRPr lang="en-IN" b="1" dirty="0">
              <a:solidFill>
                <a:srgbClr val="00B0F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Creating new variables like Sequel vs Original and High vs Low Rating required careful string parsing and logic.</a:t>
            </a:r>
            <a:endParaRPr lang="en-IN"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a:solidFill>
                  <a:srgbClr val="00B0F0"/>
                </a:solidFill>
                <a:latin typeface="Calibri" panose="020F0502020204030204" pitchFamily="34" charset="0"/>
                <a:ea typeface="Calibri" panose="020F0502020204030204" pitchFamily="34" charset="0"/>
                <a:cs typeface="Calibri" panose="020F0502020204030204" pitchFamily="34" charset="0"/>
              </a:rPr>
              <a:t>Model Evaluation Confusion</a:t>
            </a:r>
            <a:endParaRPr lang="en-IN" b="1" dirty="0">
              <a:solidFill>
                <a:srgbClr val="00B0F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Understanding why the confusion matrix showed very high accuracy and ensuring the model was not breaking due to data leakage.</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4132147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4F88F8-17E5-45E3-77B1-77FACD99FF63}"/>
              </a:ext>
            </a:extLst>
          </p:cNvPr>
          <p:cNvSpPr>
            <a:spLocks noGrp="1"/>
          </p:cNvSpPr>
          <p:nvPr>
            <p:ph type="title"/>
          </p:nvPr>
        </p:nvSpPr>
        <p:spPr>
          <a:xfrm>
            <a:off x="0" y="127819"/>
            <a:ext cx="6469626" cy="501445"/>
          </a:xfrm>
        </p:spPr>
        <p:txBody>
          <a:bodyPr/>
          <a:lstStyle/>
          <a:p>
            <a:r>
              <a:rPr lang="en-US" dirty="0"/>
              <a:t>Q&amp;A – Open floor for questions.</a:t>
            </a:r>
          </a:p>
        </p:txBody>
      </p:sp>
      <p:sp>
        <p:nvSpPr>
          <p:cNvPr id="4" name="Slide Number Placeholder 3">
            <a:extLst>
              <a:ext uri="{FF2B5EF4-FFF2-40B4-BE49-F238E27FC236}">
                <a16:creationId xmlns:a16="http://schemas.microsoft.com/office/drawing/2014/main" id="{1D2469ED-926E-7CEE-5AF2-BF9AC726D01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12</a:t>
            </a:fld>
            <a:endParaRPr lang="en-US" dirty="0"/>
          </a:p>
        </p:txBody>
      </p:sp>
      <p:sp>
        <p:nvSpPr>
          <p:cNvPr id="5" name="Content Placeholder 10">
            <a:extLst>
              <a:ext uri="{FF2B5EF4-FFF2-40B4-BE49-F238E27FC236}">
                <a16:creationId xmlns:a16="http://schemas.microsoft.com/office/drawing/2014/main" id="{1B809CD3-6619-E3B4-467C-B073154600BB}"/>
              </a:ext>
            </a:extLst>
          </p:cNvPr>
          <p:cNvSpPr txBox="1">
            <a:spLocks/>
          </p:cNvSpPr>
          <p:nvPr/>
        </p:nvSpPr>
        <p:spPr>
          <a:xfrm>
            <a:off x="658761" y="1170038"/>
            <a:ext cx="9606115" cy="4513007"/>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r>
              <a:rPr lang="en-US" b="1" dirty="0">
                <a:solidFill>
                  <a:srgbClr val="7030A0"/>
                </a:solidFill>
              </a:rPr>
              <a:t>Thank you for listening</a:t>
            </a:r>
            <a:br>
              <a:rPr lang="en-US" b="1" dirty="0">
                <a:solidFill>
                  <a:srgbClr val="7030A0"/>
                </a:solidFill>
              </a:rPr>
            </a:br>
            <a:r>
              <a:rPr lang="en-US" b="1" dirty="0">
                <a:solidFill>
                  <a:srgbClr val="7030A0"/>
                </a:solidFill>
              </a:rPr>
              <a:t>We are happy to answer your questions about the data, analysis, and results.</a:t>
            </a: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a:p>
            <a:pPr marL="0" lvl="0" indent="0" eaLnBrk="0" fontAlgn="base" hangingPunct="0">
              <a:lnSpc>
                <a:spcPct val="100000"/>
              </a:lnSpc>
              <a:spcBef>
                <a:spcPct val="0"/>
              </a:spcBef>
              <a:spcAft>
                <a:spcPct val="0"/>
              </a:spcAft>
              <a:buNone/>
            </a:pP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lnSpc>
                <a:spcPct val="100000"/>
              </a:lnSpc>
              <a:spcBef>
                <a:spcPct val="0"/>
              </a:spcBef>
              <a:spcAft>
                <a:spcPct val="0"/>
              </a:spcAft>
              <a:buNone/>
            </a:pP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lnSpc>
                <a:spcPct val="100000"/>
              </a:lnSpc>
              <a:spcBef>
                <a:spcPct val="0"/>
              </a:spcBef>
              <a:spcAft>
                <a:spcPct val="0"/>
              </a:spcAft>
              <a:buNone/>
            </a:pPr>
            <a:r>
              <a:rPr lang="en-US" altLang="en-US" sz="2400" dirty="0">
                <a:latin typeface="Calibri" panose="020F0502020204030204" pitchFamily="34" charset="0"/>
                <a:ea typeface="Calibri" panose="020F0502020204030204" pitchFamily="34" charset="0"/>
                <a:cs typeface="Calibri" panose="020F0502020204030204" pitchFamily="34" charset="0"/>
              </a:rPr>
              <a:t>Dataset: IMDb Top 250 Movies</a:t>
            </a:r>
          </a:p>
          <a:p>
            <a:pPr marL="0" lvl="0" indent="0" eaLnBrk="0" fontAlgn="base" hangingPunct="0">
              <a:lnSpc>
                <a:spcPct val="100000"/>
              </a:lnSpc>
              <a:spcBef>
                <a:spcPct val="0"/>
              </a:spcBef>
              <a:spcAft>
                <a:spcPct val="0"/>
              </a:spcAft>
              <a:buNone/>
            </a:pPr>
            <a:r>
              <a:rPr lang="en-US" altLang="en-US" sz="2400" dirty="0">
                <a:latin typeface="Calibri" panose="020F0502020204030204" pitchFamily="34" charset="0"/>
                <a:ea typeface="Calibri" panose="020F0502020204030204" pitchFamily="34" charset="0"/>
                <a:cs typeface="Calibri" panose="020F0502020204030204" pitchFamily="34" charset="0"/>
              </a:rPr>
              <a:t>Tools: R, Random Forest, ggplot2</a:t>
            </a: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a:p>
            <a:pPr marL="0" indent="0">
              <a:buNone/>
            </a:pPr>
            <a:endParaRPr lang="en-US" b="1" dirty="0">
              <a:solidFill>
                <a:srgbClr val="7030A0"/>
              </a:solidFill>
            </a:endParaRPr>
          </a:p>
        </p:txBody>
      </p:sp>
    </p:spTree>
    <p:extLst>
      <p:ext uri="{BB962C8B-B14F-4D97-AF65-F5344CB8AC3E}">
        <p14:creationId xmlns:p14="http://schemas.microsoft.com/office/powerpoint/2010/main" val="3064996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4" name="Rectangle: Rounded Corners 3">
            <a:extLst>
              <a:ext uri="{FF2B5EF4-FFF2-40B4-BE49-F238E27FC236}">
                <a16:creationId xmlns:a16="http://schemas.microsoft.com/office/drawing/2014/main" id="{AEB7BD75-38A5-BB41-3DE8-BE3F2E9A0BAA}"/>
              </a:ext>
            </a:extLst>
          </p:cNvPr>
          <p:cNvSpPr/>
          <p:nvPr/>
        </p:nvSpPr>
        <p:spPr>
          <a:xfrm>
            <a:off x="5545394" y="2349908"/>
            <a:ext cx="4729316" cy="17501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0000"/>
                </a:solidFill>
              </a:rPr>
              <a:t>GITHUB Link: https://github.com/ritgithubsiya/DataScience_Project_Box-Office-The-Sequel-Trap.</a:t>
            </a:r>
            <a:endParaRPr lang="en-IN" sz="2000" b="1" dirty="0">
              <a:solidFill>
                <a:srgbClr val="000000"/>
              </a:solidFill>
            </a:endParaRP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{9CB7F106-68AA-411D-89EC-E38B143C28C8}tf11964407_win32</Template>
  <TotalTime>407</TotalTime>
  <Words>750</Words>
  <Application>Microsoft Office PowerPoint</Application>
  <PresentationFormat>Widescreen</PresentationFormat>
  <Paragraphs>119</Paragraphs>
  <Slides>13</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Courier New</vt:lpstr>
      <vt:lpstr>Gill Sans Nova Light</vt:lpstr>
      <vt:lpstr>Sagona Book</vt:lpstr>
      <vt:lpstr>Wingdings</vt:lpstr>
      <vt:lpstr>Custom</vt:lpstr>
      <vt:lpstr>presentation title</vt:lpstr>
      <vt:lpstr>PowerPoint Presentation</vt:lpstr>
      <vt:lpstr>PowerPoint Presentation</vt:lpstr>
      <vt:lpstr>PowerPoint Presentation</vt:lpstr>
      <vt:lpstr>Exploratory Insights</vt:lpstr>
      <vt:lpstr>Feature Strategy</vt:lpstr>
      <vt:lpstr>Modeling Approach</vt:lpstr>
      <vt:lpstr>PowerPoint Presentation</vt:lpstr>
      <vt:lpstr>Model Evaluation</vt:lpstr>
      <vt:lpstr>The "So What?"</vt:lpstr>
      <vt:lpstr>Technical Reflection</vt:lpstr>
      <vt:lpstr>Q&amp;A – Open floor for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akanksha12003@outlook.com</dc:creator>
  <cp:lastModifiedBy>akanksha12003@outlook.com</cp:lastModifiedBy>
  <cp:revision>6</cp:revision>
  <dcterms:created xsi:type="dcterms:W3CDTF">2025-12-28T10:55:25Z</dcterms:created>
  <dcterms:modified xsi:type="dcterms:W3CDTF">2025-12-30T09:35:45Z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